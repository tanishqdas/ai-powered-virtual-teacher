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MEETHUB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D4ED8"/>
                </a:solidFill>
                <a:latin typeface="Calibri"/>
              </a:rPr>
              <a:t>Meeting Collaboration &amp; AI Task Automation | Linear Integration</a:t>
            </a:r>
          </a:p>
          <a:p>
            <a:r>
              <a:rPr sz="1200" i="1">
                <a:solidFill>
                  <a:srgbClr val="475569"/>
                </a:solidFill>
                <a:latin typeface="Calibri"/>
              </a:rPr>
              <a:t>Turning Live Meeting Conversations into Verified Engineering Backlog Tickets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12064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ACADEMIC CREDENTIALS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Course: </a:t>
            </a:r>
            <a:r>
              <a:rPr sz="1100">
                <a:solidFill>
                  <a:srgbClr val="475569"/>
                </a:solidFill>
              </a:rPr>
              <a:t>DSN4091 — Capstone Project Phase-I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Group No: </a:t>
            </a:r>
            <a:r>
              <a:rPr sz="1100">
                <a:solidFill>
                  <a:srgbClr val="475569"/>
                </a:solidFill>
              </a:rPr>
              <a:t>Group 45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Department: </a:t>
            </a:r>
            <a:r>
              <a:rPr sz="1100">
                <a:solidFill>
                  <a:srgbClr val="475569"/>
                </a:solidFill>
              </a:rPr>
              <a:t>Computer Science &amp; Engineering (AI &amp; ML)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School: </a:t>
            </a:r>
            <a:r>
              <a:rPr sz="1100">
                <a:solidFill>
                  <a:srgbClr val="475569"/>
                </a:solidFill>
              </a:rPr>
              <a:t>School of Computing Science &amp; Engineering (SCAI)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Institution: </a:t>
            </a:r>
            <a:r>
              <a:rPr sz="1100">
                <a:solidFill>
                  <a:srgbClr val="475569"/>
                </a:solidFill>
              </a:rPr>
              <a:t>VIT Bhopal University, Madhya Pradesh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Supervisor: </a:t>
            </a:r>
            <a:r>
              <a:rPr sz="1100">
                <a:solidFill>
                  <a:srgbClr val="475569"/>
                </a:solidFill>
              </a:rPr>
              <a:t>Dr. Jyoti Chauhan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560320"/>
            <a:ext cx="5242255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PROJECT TEAM MEMBERS (GROUP 45)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F172A"/>
                </a:solidFill>
              </a:rPr>
              <a:t>• Tanishq Das </a:t>
            </a:r>
            <a:r>
              <a:rPr b="1" sz="1100">
                <a:solidFill>
                  <a:srgbClr val="1D4ED8"/>
                </a:solidFill>
              </a:rPr>
              <a:t>(23BAI10587) — </a:t>
            </a:r>
            <a:r>
              <a:rPr sz="1050">
                <a:solidFill>
                  <a:srgbClr val="475569"/>
                </a:solidFill>
              </a:rPr>
              <a:t>Objectives &amp; System Architecture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F172A"/>
                </a:solidFill>
              </a:rPr>
              <a:t>• Abhi Pandey </a:t>
            </a:r>
            <a:r>
              <a:rPr b="1" sz="1100">
                <a:solidFill>
                  <a:srgbClr val="1D4ED8"/>
                </a:solidFill>
              </a:rPr>
              <a:t>(23BAI10909) — </a:t>
            </a:r>
            <a:r>
              <a:rPr sz="1050">
                <a:solidFill>
                  <a:srgbClr val="475569"/>
                </a:solidFill>
              </a:rPr>
              <a:t>Intro &amp; Problem Definition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F172A"/>
                </a:solidFill>
              </a:rPr>
              <a:t>• Varun Tiwari </a:t>
            </a:r>
            <a:r>
              <a:rPr b="1" sz="1100">
                <a:solidFill>
                  <a:srgbClr val="1D4ED8"/>
                </a:solidFill>
              </a:rPr>
              <a:t>(23BAI10939) — </a:t>
            </a:r>
            <a:r>
              <a:rPr sz="1050">
                <a:solidFill>
                  <a:srgbClr val="475569"/>
                </a:solidFill>
              </a:rPr>
              <a:t>Frontend &amp; AI Processing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F172A"/>
                </a:solidFill>
              </a:rPr>
              <a:t>• Nikhil Agrawal </a:t>
            </a:r>
            <a:r>
              <a:rPr b="1" sz="1100">
                <a:solidFill>
                  <a:srgbClr val="1D4ED8"/>
                </a:solidFill>
              </a:rPr>
              <a:t>(23BAI11388) — </a:t>
            </a:r>
            <a:r>
              <a:rPr sz="1050">
                <a:solidFill>
                  <a:srgbClr val="475569"/>
                </a:solidFill>
              </a:rPr>
              <a:t>UI &amp; Linear Integration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F172A"/>
                </a:solidFill>
              </a:rPr>
              <a:t>• Harsh Gupta </a:t>
            </a:r>
            <a:r>
              <a:rPr b="1" sz="1100">
                <a:solidFill>
                  <a:srgbClr val="1D4ED8"/>
                </a:solidFill>
              </a:rPr>
              <a:t>(23BAI10916) — </a:t>
            </a:r>
            <a:r>
              <a:rPr sz="1050">
                <a:solidFill>
                  <a:srgbClr val="475569"/>
                </a:solidFill>
              </a:rPr>
              <a:t>PDF, Deployment &amp; Roadmap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F172A"/>
                </a:solidFill>
              </a:rPr>
              <a:t>• Akshaansh Veer </a:t>
            </a:r>
            <a:r>
              <a:rPr b="1" sz="1100">
                <a:solidFill>
                  <a:srgbClr val="1D4ED8"/>
                </a:solidFill>
              </a:rPr>
              <a:t>(23BAI10730) — </a:t>
            </a:r>
            <a:r>
              <a:rPr sz="1050">
                <a:solidFill>
                  <a:srgbClr val="475569"/>
                </a:solidFill>
              </a:rPr>
              <a:t>Live Demo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EXECUTIVE OVERVIEW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MeetHub at a Glance: End-to-End Meeting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13455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/>
            <a:r>
              <a:rPr b="1" sz="1800">
                <a:solidFill>
                  <a:srgbClr val="1D4ED8"/>
                </a:solidFill>
              </a:rPr>
              <a:t>01  </a:t>
            </a:r>
            <a:r>
              <a:rPr b="1" sz="1400">
                <a:solidFill>
                  <a:srgbClr val="0F172A"/>
                </a:solidFill>
              </a:rPr>
              <a:t>Sub-Second STT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75569"/>
                </a:solidFill>
              </a:rPr>
              <a:t>Groq Whisper-large-v3 converts 60s speech in &lt;1.2s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413455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/>
            <a:r>
              <a:rPr b="1" sz="1800">
                <a:solidFill>
                  <a:srgbClr val="1D4ED8"/>
                </a:solidFill>
              </a:rPr>
              <a:t>02  </a:t>
            </a:r>
            <a:r>
              <a:rPr b="1" sz="1400">
                <a:solidFill>
                  <a:srgbClr val="0F172A"/>
                </a:solidFill>
              </a:rPr>
              <a:t>96.4% Extraction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75569"/>
                </a:solidFill>
              </a:rPr>
              <a:t>Google Gemini 1.5 Flash extracts tasks, owners &amp; 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463040"/>
            <a:ext cx="3413455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/>
            <a:r>
              <a:rPr b="1" sz="1800">
                <a:solidFill>
                  <a:srgbClr val="1D4ED8"/>
                </a:solidFill>
              </a:rPr>
              <a:t>03  </a:t>
            </a:r>
            <a:r>
              <a:rPr b="1" sz="1400">
                <a:solidFill>
                  <a:srgbClr val="0F172A"/>
                </a:solidFill>
              </a:rPr>
              <a:t>1-Click Linear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75569"/>
                </a:solidFill>
              </a:rPr>
              <a:t>Direct GraphQL API dispatch to active sprint backlogs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728655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1D4ED8"/>
                </a:solidFill>
              </a:rPr>
              <a:t>PROJECT REPOSITORIES &amp; VALUE PROPOSITION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Live Deployment: </a:t>
            </a:r>
            <a:r>
              <a:rPr sz="1150">
                <a:solidFill>
                  <a:srgbClr val="475569"/>
                </a:solidFill>
              </a:rPr>
              <a:t>https://meethub-orpin.vercel.app/ (Production Vercel Edge Network)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Source Code: </a:t>
            </a:r>
            <a:r>
              <a:rPr sz="1150">
                <a:solidFill>
                  <a:srgbClr val="475569"/>
                </a:solidFill>
              </a:rPr>
              <a:t>https://github.com/TANISHQDAS/Meethub (Open-Source Next.js + TypeScript)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Zero-Bot Architecture: </a:t>
            </a:r>
            <a:r>
              <a:rPr sz="1150">
                <a:solidFill>
                  <a:srgbClr val="475569"/>
                </a:solidFill>
              </a:rPr>
              <a:t>No invasive meeting bots or virtual calendar attendees. Uses browser-native Dual Audio Mixing.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Enterprise Privacy: </a:t>
            </a:r>
            <a:r>
              <a:rPr sz="1150">
                <a:solidFill>
                  <a:srgbClr val="475569"/>
                </a:solidFill>
              </a:rPr>
              <a:t>Zero Data Retention Guarantee — audio and transcripts are processed transiently in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PROBLEM STATEMENT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The Dilemma: Critical Information Lost After Every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THE REAL-WORLD INDUSTRY PROBLEM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475569"/>
                </a:solidFill>
              </a:rPr>
              <a:t>In engineering teams, discussions move at rapid speed. Architectural decisions, bug reports, and delivery promises are verbally agreed upon, yet: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Post-Meeting Debt: </a:t>
            </a:r>
            <a:r>
              <a:rPr sz="1100">
                <a:solidFill>
                  <a:srgbClr val="475569"/>
                </a:solidFill>
              </a:rPr>
              <a:t>Engineers spend 45+ minutes manually deciphering scribbles and keying issues into Linear/Jira.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Evaporating Commitments: </a:t>
            </a:r>
            <a:r>
              <a:rPr sz="1100">
                <a:solidFill>
                  <a:srgbClr val="475569"/>
                </a:solidFill>
              </a:rPr>
              <a:t>Statements like 'Marcus, optimize the index by Friday' are forgotten once the tab closes.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60-Minute Video Graves: </a:t>
            </a:r>
            <a:r>
              <a:rPr sz="1100">
                <a:solidFill>
                  <a:srgbClr val="475569"/>
                </a:solidFill>
              </a:rPr>
              <a:t>Lengthy meeting recordings are never re-watched by engineers with tight sprint deadlines.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Ambiguous Ownership: </a:t>
            </a:r>
            <a:r>
              <a:rPr sz="1100">
                <a:solidFill>
                  <a:srgbClr val="475569"/>
                </a:solidFill>
              </a:rPr>
              <a:t>Who agreed to what? Lack of explicit assignor/assignee logging leads to missed sprint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5425135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D4ED8"/>
                </a:solidFill>
              </a:rPr>
              <a:t>TRADITIONAL FOLLOW-UP VS. MEETHUB</a:t>
            </a:r>
          </a:p>
        </p:txBody>
      </p:sp>
      <p:pic>
        <p:nvPicPr>
          <p:cNvPr id="9" name="Picture 8" descr="slide_3_img_3_1416x59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3120"/>
            <a:ext cx="502920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PROJECT GOALS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Six Core Engineering Objectives of MeetHub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1. Dual-Audio Mixer</a:t>
            </a:r>
          </a:p>
          <a:p>
            <a:r>
              <a:rPr sz="1100">
                <a:solidFill>
                  <a:srgbClr val="475569"/>
                </a:solidFill>
              </a:rPr>
              <a:t>Capture user mic + remote meeting tab voices with zero virtual bots or client software installs.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2. Sub-Second ASR</a:t>
            </a:r>
          </a:p>
          <a:p>
            <a:r>
              <a:rPr sz="1100">
                <a:solidFill>
                  <a:srgbClr val="475569"/>
                </a:solidFill>
              </a:rPr>
              <a:t>Leverage Groq LPU hardware running Whisper-large-v3 to transcribe calls with word timestamps.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46304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3. Generative Intent Parsing</a:t>
            </a:r>
          </a:p>
          <a:p>
            <a:r>
              <a:rPr sz="1100">
                <a:solidFill>
                  <a:srgbClr val="475569"/>
                </a:solidFill>
              </a:rPr>
              <a:t>Apply Google Gemini 1.5 Flash to disambiguate verbal intent, extract owners, and map deadlines.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4. Direct Linear Backlog Sync</a:t>
            </a:r>
          </a:p>
          <a:p>
            <a:r>
              <a:rPr sz="1100">
                <a:solidFill>
                  <a:srgbClr val="475569"/>
                </a:solidFill>
              </a:rPr>
              <a:t>1-click GraphQL API dispatch pushing tickets (ENG-241) with priority tags directly into cycles.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4048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5. Conversational Diarization</a:t>
            </a:r>
          </a:p>
          <a:p>
            <a:r>
              <a:rPr sz="1100">
                <a:solidFill>
                  <a:srgbClr val="475569"/>
                </a:solidFill>
              </a:rPr>
              <a:t>Measure speaker talk-time ratios, words-per-minute pacing, and team collaboration sentiment.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84048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6. Executive Audit Trail</a:t>
            </a:r>
          </a:p>
          <a:p>
            <a:r>
              <a:rPr sz="1100">
                <a:solidFill>
                  <a:srgbClr val="475569"/>
                </a:solidFill>
              </a:rPr>
              <a:t>Generate downloadable, compliance-ready executive PDF briefs and SMTP email digests.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SYSTEM ARCHITECTURE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End-to-End Modular Architecture &amp; Microservices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5_img_1_1519x9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008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463040"/>
            <a:ext cx="405353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ARCHITECTURAL LAYERS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Client Layer: </a:t>
            </a:r>
            <a:r>
              <a:rPr sz="1050">
                <a:solidFill>
                  <a:srgbClr val="475569"/>
                </a:solidFill>
              </a:rPr>
              <a:t>Next.js 14 App Router with Tailwind CSS and responsive React state management.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Audio Ingestion: </a:t>
            </a:r>
            <a:r>
              <a:rPr sz="1050">
                <a:solidFill>
                  <a:srgbClr val="475569"/>
                </a:solidFill>
              </a:rPr>
              <a:t>Web Audio API mixer capturing mic + tab voices via ChannelMergerNode.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Speech AI Engine: </a:t>
            </a:r>
            <a:r>
              <a:rPr sz="1050">
                <a:solidFill>
                  <a:srgbClr val="475569"/>
                </a:solidFill>
              </a:rPr>
              <a:t>Groq Cloud Whisper-large-v3 executing transcribing in &lt;1.2s via LPUs.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NLP &amp; Reasoning: </a:t>
            </a:r>
            <a:r>
              <a:rPr sz="1050">
                <a:solidFill>
                  <a:srgbClr val="475569"/>
                </a:solidFill>
              </a:rPr>
              <a:t>Google Gemini 1.5 Flash parsing structured commitments and JSON schemas.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Integration Engine: </a:t>
            </a:r>
            <a:r>
              <a:rPr sz="1050">
                <a:solidFill>
                  <a:srgbClr val="475569"/>
                </a:solidFill>
              </a:rPr>
              <a:t>Direct Linear GraphQL API, jsPDF audit engine, and Nodemailer SMTP.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PIPELINE EXECUTION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Five-Stage Real-Time Audio-to-Backlog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6_img_1_2970x1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3566160"/>
            <a:ext cx="10728655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PIPELINE STAGE BREAKDOWN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</a:rPr>
              <a:t>Stage 1 (Capture): </a:t>
            </a:r>
            <a:r>
              <a:rPr sz="1100">
                <a:solidFill>
                  <a:srgbClr val="475569"/>
                </a:solidFill>
              </a:rPr>
              <a:t>Client-side Dual Audio Mixer captures mic and Google Meet/Zoom tab audio into a unified Opus stream.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</a:rPr>
              <a:t>Stage 2 (Transcribe): </a:t>
            </a:r>
            <a:r>
              <a:rPr sz="1100">
                <a:solidFill>
                  <a:srgbClr val="475569"/>
                </a:solidFill>
              </a:rPr>
              <a:t>Audio payload relayed to Groq Cloud Whisper-large-v3 for sub-second, word-level ASR.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</a:rPr>
              <a:t>Stage 3 (Analyze): </a:t>
            </a:r>
            <a:r>
              <a:rPr sz="1100">
                <a:solidFill>
                  <a:srgbClr val="475569"/>
                </a:solidFill>
              </a:rPr>
              <a:t>Gemini 1.5 Flash processes transcript using strict few-shot rules to extract structured tasks and summaries.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</a:rPr>
              <a:t>Stage 4 (Review): </a:t>
            </a:r>
            <a:r>
              <a:rPr sz="1100">
                <a:solidFill>
                  <a:srgbClr val="475569"/>
                </a:solidFill>
              </a:rPr>
              <a:t>Interactive UI pipeline displays tasks where leads can modify assignees, deadlines, and priorities.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</a:rPr>
              <a:t>Stage 5 (Dispatch): </a:t>
            </a:r>
            <a:r>
              <a:rPr sz="1100">
                <a:solidFill>
                  <a:srgbClr val="475569"/>
                </a:solidFill>
              </a:rPr>
              <a:t>1-click push to Linear backlog issues (ENG-241), downloads executive PDF briefs, and sends email digests.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AUDIO INGESTION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Client-Side Dual-Audio Capture: No Bots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7_img_1_812x6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9377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463040"/>
            <a:ext cx="551657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TECHNICAL IMPLEMENTATION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The Virtual Bot Dilemma: </a:t>
            </a:r>
            <a:r>
              <a:rPr sz="1050">
                <a:solidFill>
                  <a:srgbClr val="475569"/>
                </a:solidFill>
              </a:rPr>
              <a:t>Traditional tools (Otter, Fireflies) dispatch bots (bot@vendor.ai) that trigger privacy alerts, get rejected by hosts, and fail in Slack huddles.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Browser-Native Solution: </a:t>
            </a:r>
            <a:r>
              <a:rPr sz="1050">
                <a:solidFill>
                  <a:srgbClr val="475569"/>
                </a:solidFill>
              </a:rPr>
              <a:t>MeetHub combines navigator.mediaDevices.getUserMedia (local mic) and getDisplayMedia (browser tab audio).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ChannelMergerNode Mixing: </a:t>
            </a:r>
            <a:r>
              <a:rPr sz="1050">
                <a:solidFill>
                  <a:srgbClr val="475569"/>
                </a:solidFill>
              </a:rPr>
              <a:t>An AudioContext instance binds both streams through a ChannelMergerNode into a single synchronized MediaRecorder stream.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Opus Compression: </a:t>
            </a:r>
            <a:r>
              <a:rPr sz="1050">
                <a:solidFill>
                  <a:srgbClr val="475569"/>
                </a:solidFill>
              </a:rPr>
              <a:t>Records in lightweight 'audio/webm;codecs=opus' at 44.1 kHz, reducing bandwidth consumption while preserving speech clarity.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Canvas 2D Audio Visualizer: </a:t>
            </a:r>
            <a:r>
              <a:rPr sz="1050">
                <a:solidFill>
                  <a:srgbClr val="475569"/>
                </a:solidFill>
              </a:rPr>
              <a:t>Real-time FFT audio visualizer confirms microphone and tab audio levels are actively streaming.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SPEECH RECOGNITION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Sub-Second Automatic Speech Recognition (ASR)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GROQ WHISPER-LARGE-V3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LPU Inference Advantage: </a:t>
            </a:r>
            <a:r>
              <a:rPr sz="1100">
                <a:solidFill>
                  <a:srgbClr val="475569"/>
                </a:solidFill>
              </a:rPr>
              <a:t>Traditional cloud GPUs require 8–15 seconds to transcribe a 1-minute audio file. Groq LPUs execute Whisper-large-v3 in &lt;1.2 seconds.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Word-Level Timestamping: </a:t>
            </a:r>
            <a:r>
              <a:rPr sz="1100">
                <a:solidFill>
                  <a:srgbClr val="475569"/>
                </a:solidFill>
              </a:rPr>
              <a:t>Returns verbose JSON with precision offsets (start/end) per word, enabling synchronized transcript highlighting in MeetHub.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Acoustic Robustness: </a:t>
            </a:r>
            <a:r>
              <a:rPr sz="1100">
                <a:solidFill>
                  <a:srgbClr val="475569"/>
                </a:solidFill>
              </a:rPr>
              <a:t>Handles technical jargon ('GraphQL', 'Kubernetes', 'Linear', 'PostgreSQL') and background office noise with minimal error.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Edge API Route: </a:t>
            </a:r>
            <a:r>
              <a:rPr sz="1100">
                <a:solidFill>
                  <a:srgbClr val="475569"/>
                </a:solidFill>
              </a:rPr>
              <a:t>Direct streaming via /api/transcribe using multipart form uploads with zero client API key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46304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1D4ED8"/>
                </a:solidFill>
              </a:rPr>
              <a:t>PERFORMANCE METRICS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Transcription Latency
</a:t>
            </a:r>
            <a:r>
              <a:rPr sz="1100">
                <a:solidFill>
                  <a:srgbClr val="1D4ED8"/>
                </a:solidFill>
              </a:rPr>
              <a:t>1.18 seconds (Average for 60s speech)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Word Error Rate (WER)
</a:t>
            </a:r>
            <a:r>
              <a:rPr sz="1100">
                <a:solidFill>
                  <a:srgbClr val="1D4ED8"/>
                </a:solidFill>
              </a:rPr>
              <a:t>4.8% on technical software engineering dialogues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Concurrent Stream Capacity
</a:t>
            </a:r>
            <a:r>
              <a:rPr sz="1100">
                <a:solidFill>
                  <a:srgbClr val="1D4ED8"/>
                </a:solidFill>
              </a:rPr>
              <a:t>Up to 50 concurrent team meetings supported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Supported Formats
</a:t>
            </a:r>
            <a:r>
              <a:rPr sz="1100">
                <a:solidFill>
                  <a:srgbClr val="1D4ED8"/>
                </a:solidFill>
              </a:rPr>
              <a:t>MP3, WAV, M4A, WebM, Opus (up to 50 MB)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ARTIFICIAL INTELLIGENCE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Generative Task Extraction with Google Gemini 1.5 Flash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SEVEN CORE TASK EXTRACTION RULES (SYSTEM PROMPT SPEC)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1: Signal Words Are Not Enough: </a:t>
            </a:r>
            <a:r>
              <a:rPr sz="1050">
                <a:solidFill>
                  <a:srgbClr val="475569"/>
                </a:solidFill>
              </a:rPr>
              <a:t>Words like 'must', 'need to', 'will' are signals only. The engine inspects context to ensure an actual deliverable is agreed upon.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2: Real Commitments Only: </a:t>
            </a:r>
            <a:r>
              <a:rPr sz="1050">
                <a:solidFill>
                  <a:srgbClr val="475569"/>
                </a:solidFill>
              </a:rPr>
              <a:t>Suggestions, brainstorm ideas, and hypothetical thoughts are omitted from the task queue.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3: Zero Hallucination Policy: </a:t>
            </a:r>
            <a:r>
              <a:rPr sz="1050">
                <a:solidFill>
                  <a:srgbClr val="475569"/>
                </a:solidFill>
              </a:rPr>
              <a:t>Never invent an assignee, deadline, or title. If ambiguous, the engine preserves the ambiguity or marks assignee as null.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4: Advanced Assignee Resolution: </a:t>
            </a:r>
            <a:r>
              <a:rPr sz="1050">
                <a:solidFill>
                  <a:srgbClr val="475569"/>
                </a:solidFill>
              </a:rPr>
              <a:t>• 'Marcus, please optimize search queries' -&gt; Marcus | • 'I will push the PR today' -&gt; Speaker | • 'Someone should check this' -&gt; Null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5: Intelligent Deadline Inference: </a:t>
            </a:r>
            <a:r>
              <a:rPr sz="1050">
                <a:solidFill>
                  <a:srgbClr val="475569"/>
                </a:solidFill>
              </a:rPr>
              <a:t>Converts relative time expressions ('by tomorrow', 'next Friday', 'before sprint cutoff') into standardized ISO calendar dates.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6: Tri-Level Priority Classification: </a:t>
            </a:r>
            <a:r>
              <a:rPr sz="1050">
                <a:solidFill>
                  <a:srgbClr val="475569"/>
                </a:solidFill>
              </a:rPr>
              <a:t>Maps task urgency to Urgent (P1), High (P2), or Medium (P3) based on stated blockers and sprint dependencies.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</a:rPr>
              <a:t>• Rule 7: Structured JSON Schema Enforcement: </a:t>
            </a:r>
            <a:r>
              <a:rPr sz="1050">
                <a:solidFill>
                  <a:srgbClr val="475569"/>
                </a:solidFill>
              </a:rPr>
              <a:t>Returns verified JSON matching TypeScript domain interfaces, eliminating client-side parsing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DATA TRANSFORMATION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From Unstructured Dialogue to Verified Backlog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INPUT: RAW MEETING CONVERSATION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Alex: </a:t>
            </a:r>
            <a:r>
              <a:rPr i="1" sz="1100">
                <a:solidFill>
                  <a:srgbClr val="475569"/>
                </a:solidFill>
              </a:rPr>
              <a:t>"Thanks everyone for joining. Marcus, can you optimize the search query performance before Friday?"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Marcus: </a:t>
            </a:r>
            <a:r>
              <a:rPr i="1" sz="1100">
                <a:solidFill>
                  <a:srgbClr val="475569"/>
                </a:solidFill>
              </a:rPr>
              <a:t>"Yes, I will benchmark the database indices tomorrow and post the results."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Maya: </a:t>
            </a:r>
            <a:r>
              <a:rPr i="1" sz="1100">
                <a:solidFill>
                  <a:srgbClr val="475569"/>
                </a:solidFill>
              </a:rPr>
              <a:t>"I will implement the Linear webhook integration today and write automated unit tests."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Alex: </a:t>
            </a:r>
            <a:r>
              <a:rPr i="1" sz="1100">
                <a:solidFill>
                  <a:srgbClr val="475569"/>
                </a:solidFill>
              </a:rPr>
              <a:t>"Great. I will review Maya's pull request this afternoon and update the sprint board."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4663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OUTPUT: STRUCTURED TASK OBJECTS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D4ED8"/>
                </a:solidFill>
              </a:rPr>
              <a:t>[Task 1] </a:t>
            </a:r>
            <a:r>
              <a:rPr b="1" sz="1100">
                <a:solidFill>
                  <a:srgbClr val="0F172A"/>
                </a:solidFill>
              </a:rPr>
              <a:t>Optimize search query performance and database indices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475569"/>
                </a:solidFill>
              </a:rPr>
              <a:t>Owner: Marcus | Due: Friday | Priority: High | Category: Database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D4ED8"/>
                </a:solidFill>
              </a:rPr>
              <a:t>[Task 2] </a:t>
            </a:r>
            <a:r>
              <a:rPr b="1" sz="1100">
                <a:solidFill>
                  <a:srgbClr val="0F172A"/>
                </a:solidFill>
              </a:rPr>
              <a:t>Implement Linear webhook integration with unit tests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475569"/>
                </a:solidFill>
              </a:rPr>
              <a:t>Owner: Maya | Due: Today | Priority: Urgent | Category: Backend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D4ED8"/>
                </a:solidFill>
              </a:rPr>
              <a:t>[Task 3] </a:t>
            </a:r>
            <a:r>
              <a:rPr b="1" sz="1100">
                <a:solidFill>
                  <a:srgbClr val="0F172A"/>
                </a:solidFill>
              </a:rPr>
              <a:t>Review webhook pull request &amp; update sprint board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475569"/>
                </a:solidFill>
              </a:rPr>
              <a:t>Owner: Alex | Due: This Afternoon | Priority: Medium | Category: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ISSUE MANAGEMENT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Direct Linear Integration: GraphQL Backlog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1_img_1_1141x5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463040"/>
            <a:ext cx="515081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GRAPHQL MUTATION &amp; SYNC CAPABILITIES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GraphQL Mutation: </a:t>
            </a:r>
            <a:r>
              <a:rPr sz="1050">
                <a:solidFill>
                  <a:srgbClr val="475569"/>
                </a:solidFill>
              </a:rPr>
              <a:t>Executes `issueCreate(input: $input)` with task title, markdown description, priority integer, and team cycle.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Permanent Ticket Key: </a:t>
            </a:r>
            <a:r>
              <a:rPr sz="1050">
                <a:solidFill>
                  <a:srgbClr val="475569"/>
                </a:solidFill>
              </a:rPr>
              <a:t>Linear generates official ticket IDs (e.g. ENG-241) and external URLs, stored directly in MeetHub state.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Bulk or Single Push: </a:t>
            </a:r>
            <a:r>
              <a:rPr sz="1050">
                <a:solidFill>
                  <a:srgbClr val="475569"/>
                </a:solidFill>
              </a:rPr>
              <a:t>Team leads can review and adjust tasks before clicking 'Push All to Linear' or pushing individual tickets.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Two-Way Status Tracking: </a:t>
            </a:r>
            <a:r>
              <a:rPr sz="1050">
                <a:solidFill>
                  <a:srgbClr val="475569"/>
                </a:solidFill>
              </a:rPr>
              <a:t>Reflects ticket status in real-time (Pending -&gt; Created -&gt; Synced), ensuring no duplicate task creation.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MEETING HEALTH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Conversational Analytics: Talk-Time &amp; WPM Pacing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2_img_1_1439x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23760" y="1463040"/>
            <a:ext cx="423641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METRICS &amp; INSIGHTS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Talk-Time Distribution: </a:t>
            </a:r>
            <a:r>
              <a:rPr sz="1050">
                <a:solidFill>
                  <a:srgbClr val="475569"/>
                </a:solidFill>
              </a:rPr>
              <a:t>Detects speaker dominance. (Alex: 42%, Marcus: 31%, Maya: 27%) indicating balanced cross-functional collaboration.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Pacing Detector (WPM): </a:t>
            </a:r>
            <a:r>
              <a:rPr sz="1050">
                <a:solidFill>
                  <a:srgbClr val="475569"/>
                </a:solidFill>
              </a:rPr>
              <a:t>Measures words per minute against cognitive comprehension benchmarks (Deliberate &lt;120, Optimal 120-160, Fast &gt;160).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Collaboration Sentiment: </a:t>
            </a:r>
            <a:r>
              <a:rPr sz="1050">
                <a:solidFill>
                  <a:srgbClr val="475569"/>
                </a:solidFill>
              </a:rPr>
              <a:t>Natural language sentiment score (+88% Constructive) identifying positive team focus and constructive dialogue.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Engagement Rating: </a:t>
            </a:r>
            <a:r>
              <a:rPr sz="1050">
                <a:solidFill>
                  <a:srgbClr val="475569"/>
                </a:solidFill>
              </a:rPr>
              <a:t>Calculates active team participation score (92/100) based on turn-taking frequency.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COMPLIANCE &amp; REPORTING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Zero-Dependency Vector PDF Audit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CLIENT-SIDE VECTOR PDF ENGINE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Zero Heavy External Libraries: </a:t>
            </a:r>
            <a:r>
              <a:rPr sz="1050">
                <a:solidFill>
                  <a:srgbClr val="475569"/>
                </a:solidFill>
              </a:rPr>
              <a:t>Engineered in pure TypeScript (`src/lib/pdfGenerator.ts`) compiling raw PostScript and %PDF-1.4 binary streams.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Instant Client Generation: </a:t>
            </a:r>
            <a:r>
              <a:rPr sz="1050">
                <a:solidFill>
                  <a:srgbClr val="475569"/>
                </a:solidFill>
              </a:rPr>
              <a:t>Generates within the browser memory in &lt;150 ms with zero server roundtrips.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Executive Brief Layout: </a:t>
            </a:r>
            <a:r>
              <a:rPr sz="1050">
                <a:solidFill>
                  <a:srgbClr val="475569"/>
                </a:solidFill>
              </a:rPr>
              <a:t>Features formal document headers, attendee rosters, call duration, TL;DR summary, and verified decision logs.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Linear Ticket Registry: </a:t>
            </a:r>
            <a:r>
              <a:rPr sz="1050">
                <a:solidFill>
                  <a:srgbClr val="475569"/>
                </a:solidFill>
              </a:rPr>
              <a:t>Tabulates every extracted action item alongside assigned owners, deadlines, and verified Linear ticket keys (ENG-241).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AUTOMATED STAKEHOLDER EMAIL RECAPS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Nodemailer SMTP Integration: </a:t>
            </a:r>
            <a:r>
              <a:rPr sz="1050">
                <a:solidFill>
                  <a:srgbClr val="475569"/>
                </a:solidFill>
              </a:rPr>
              <a:t>Built into /api/email-recap route using Gmail SMTP service.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Responsive HTML Template: </a:t>
            </a:r>
            <a:r>
              <a:rPr sz="1050">
                <a:solidFill>
                  <a:srgbClr val="475569"/>
                </a:solidFill>
              </a:rPr>
              <a:t>Synthesizes an executive email digest with priority badges and tabular action items.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Stakeholder Notifications: </a:t>
            </a:r>
            <a:r>
              <a:rPr sz="1050">
                <a:solidFill>
                  <a:srgbClr val="475569"/>
                </a:solidFill>
              </a:rPr>
              <a:t>Allows leads to dispatch post-meeting briefs to leadership and absent members with a single click.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Audit Archiving: </a:t>
            </a:r>
            <a:r>
              <a:rPr sz="1050">
                <a:solidFill>
                  <a:srgbClr val="475569"/>
                </a:solidFill>
              </a:rPr>
              <a:t>Establishes an immutable record for SOC2 / ISO compliance across enterprise organizations.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USER EXPERIENCE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Interactive Meeting Pipeline &amp; Working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4_img_1_1366x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463040"/>
            <a:ext cx="441929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WORKSPACE COMPONENTS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Audio Waveform Player: </a:t>
            </a:r>
            <a:r>
              <a:rPr sz="1050">
                <a:solidFill>
                  <a:srgbClr val="475569"/>
                </a:solidFill>
              </a:rPr>
              <a:t>Interactive timeline with scrubbing, pause/play, and turn synchronization.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Turn-by-Turn Transcripts: </a:t>
            </a:r>
            <a:r>
              <a:rPr sz="1050">
                <a:solidFill>
                  <a:srgbClr val="475569"/>
                </a:solidFill>
              </a:rPr>
              <a:t>Editable cards displaying speaker tags, timestamps, and verbatim speech.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Action Items Board: </a:t>
            </a:r>
            <a:r>
              <a:rPr sz="1050">
                <a:solidFill>
                  <a:srgbClr val="475569"/>
                </a:solidFill>
              </a:rPr>
              <a:t>Dynamic cards with owner chips, calendar due dates, priority pills, and Linear sync buttons.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Executive Summary Tabs: </a:t>
            </a:r>
            <a:r>
              <a:rPr sz="1050">
                <a:solidFill>
                  <a:srgbClr val="475569"/>
                </a:solidFill>
              </a:rPr>
              <a:t>One-click switching between TL;DR, Key Points, Decisions, and Speaker 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AI COPILOT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MeetHub Copilot: Natural Language Transcript Query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5_img_1_963x61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9377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463040"/>
            <a:ext cx="551657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CONVERSATIONAL COPILOT CAPABILITIES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Context-Aware Dialogue: </a:t>
            </a:r>
            <a:r>
              <a:rPr sz="1050">
                <a:solidFill>
                  <a:srgbClr val="475569"/>
                </a:solidFill>
              </a:rPr>
              <a:t>Engineered in `src/components/AskAIModal.tsx`, passing the full transcript and TL;DR context directly to Gemini.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Natural Language Queries: </a:t>
            </a:r>
            <a:r>
              <a:rPr sz="1050">
                <a:solidFill>
                  <a:srgbClr val="475569"/>
                </a:solidFill>
              </a:rPr>
              <a:t>Engineers can ask: 'What did Marcus agree to deliver?', 'What was the blocking database issue?', or 'What deadlines were set?'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Direct Citation &amp; Timestamps: </a:t>
            </a:r>
            <a:r>
              <a:rPr sz="1050">
                <a:solidFill>
                  <a:srgbClr val="475569"/>
                </a:solidFill>
              </a:rPr>
              <a:t>Returns concise responses quoting the exact speaker turns, timestamps, and reasoning.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Offline Fallback Mode: </a:t>
            </a:r>
            <a:r>
              <a:rPr sz="1050">
                <a:solidFill>
                  <a:srgbClr val="475569"/>
                </a:solidFill>
              </a:rPr>
              <a:t>Features intelligent client-side keyword heuristics when offline or network-constrained.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DESIGN SYSTEM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Tactile Paper Aesthetic &amp; Cyan Matrix Grid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6_img_1_1279x63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463040"/>
            <a:ext cx="496793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DESIGN SYSTEM ELEMENTS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Tactile Paper Cards: </a:t>
            </a:r>
            <a:r>
              <a:rPr sz="1050">
                <a:solidFill>
                  <a:srgbClr val="475569"/>
                </a:solidFill>
              </a:rPr>
              <a:t>Custom `.arsak-card` and `.arsak-stage` parchment surfaces with subtle grain textures and rounded physical elevation.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3D Shelf Highlights: </a:t>
            </a:r>
            <a:r>
              <a:rPr sz="1050">
                <a:solidFill>
                  <a:srgbClr val="475569"/>
                </a:solidFill>
              </a:rPr>
              <a:t>Custom `.arsak-shelf` teal/mint drop shelves providing physical depth to interactive cards.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Cyan Dot Matrix Grid: </a:t>
            </a:r>
            <a:r>
              <a:rPr sz="1050">
                <a:solidFill>
                  <a:srgbClr val="475569"/>
                </a:solidFill>
              </a:rPr>
              <a:t>Deep background (#090D16) accented by high-contrast cyan grid matrix (.arsak-dot-grid) designed for engineering tooling.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Developer Typography: </a:t>
            </a:r>
            <a:r>
              <a:rPr sz="1050">
                <a:solidFill>
                  <a:srgbClr val="475569"/>
                </a:solidFill>
              </a:rPr>
              <a:t>Engineered pairing of Plus Jakarta Sans, Kanit, and JetBrains Mono for code blocks.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PRIVACY &amp; GOVERNANCE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Zero Data Retention: Enterprise-Grade Confidentiality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1D4ED8"/>
                </a:solidFill>
              </a:rPr>
              <a:t>In-Memory Processing</a:t>
            </a:r>
          </a:p>
          <a:p>
            <a:r>
              <a:rPr sz="1100">
                <a:solidFill>
                  <a:srgbClr val="475569"/>
                </a:solidFill>
              </a:rPr>
              <a:t>Audio buffers and transient transcript turns exist solely in volatile RAM during the meeting session and are destroyed upon tab close.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1D4ED8"/>
                </a:solidFill>
              </a:rPr>
              <a:t>Zero Cloud Audio Storage</a:t>
            </a:r>
          </a:p>
          <a:p>
            <a:r>
              <a:rPr sz="1100">
                <a:solidFill>
                  <a:srgbClr val="475569"/>
                </a:solidFill>
              </a:rPr>
              <a:t>Unlike commercial tools, MeetHub never stores proprietary recordings on third-party servers for model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1D4ED8"/>
                </a:solidFill>
              </a:rPr>
              <a:t>Serverless Edge Relaying</a:t>
            </a:r>
          </a:p>
          <a:p>
            <a:r>
              <a:rPr sz="1100">
                <a:solidFill>
                  <a:srgbClr val="475569"/>
                </a:solidFill>
              </a:rPr>
              <a:t>All API routes (/api/transcribe, /api/analyze) operate as stateless Next.js edge microservices with encrypted TLS 1.3.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84048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1D4ED8"/>
                </a:solidFill>
              </a:rPr>
              <a:t>Client-Side Token Security</a:t>
            </a:r>
          </a:p>
          <a:p>
            <a:r>
              <a:rPr sz="1100">
                <a:solidFill>
                  <a:srgbClr val="475569"/>
                </a:solidFill>
              </a:rPr>
              <a:t>API keys (GEMINI_API_KEY, GROQ_API_KEY, LINEAR_API_KEY) are sealed within server environment variables, never exposed to clients.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CODEBASE ANATOMY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Next.js 14 App Router Codebase &amp; Language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8_img_1_1612x6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463040"/>
            <a:ext cx="423641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CODEBASE ARCHITECTURE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Language Makeup: </a:t>
            </a:r>
            <a:r>
              <a:rPr sz="1050">
                <a:solidFill>
                  <a:srgbClr val="475569"/>
                </a:solidFill>
              </a:rPr>
              <a:t>TypeScript 97.9%, CSS 1.8%, JavaScript 0.3% ensuring rigorous compile-time type safety.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Microservice Routes: </a:t>
            </a:r>
            <a:r>
              <a:rPr sz="1050">
                <a:solidFill>
                  <a:srgbClr val="475569"/>
                </a:solidFill>
              </a:rPr>
              <a:t>Dedicated serverless handlers: /api/transcribe, /api/analyze, /api/linear-sync, /api/email-recap.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Modular Components: </a:t>
            </a:r>
            <a:r>
              <a:rPr sz="1050">
                <a:solidFill>
                  <a:srgbClr val="475569"/>
                </a:solidFill>
              </a:rPr>
              <a:t>Decoupled UI widgets: BrowserRecorderModal, SpeakerStats, AskAIModal, AudioUploader.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Unified CI/CD: </a:t>
            </a:r>
            <a:r>
              <a:rPr sz="1050">
                <a:solidFill>
                  <a:srgbClr val="475569"/>
                </a:solidFill>
              </a:rPr>
              <a:t>Continuous integration on GitHub with automated deployment to Vercel Edge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EVALUATION &amp; METRICS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Empirical Evaluation: Manual Notes vs. MeetHub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9_img_1_1479x6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008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463040"/>
            <a:ext cx="405353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1D4ED8"/>
                </a:solidFill>
              </a:rPr>
              <a:t>QUANTITATIVE GAINS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Time Saved: </a:t>
            </a:r>
            <a:r>
              <a:rPr sz="1050">
                <a:solidFill>
                  <a:srgbClr val="475569"/>
                </a:solidFill>
              </a:rPr>
              <a:t>Post-meeting administrative overhead reduced from 42.5 minutes to under 50 seconds (98% reduction).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Detection Accuracy: </a:t>
            </a:r>
            <a:r>
              <a:rPr sz="1050">
                <a:solidFill>
                  <a:srgbClr val="475569"/>
                </a:solidFill>
              </a:rPr>
              <a:t>96.4% task detection precision compared to 61.8% for manual note-taking.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Assignee Resolution: </a:t>
            </a:r>
            <a:r>
              <a:rPr sz="1050">
                <a:solidFill>
                  <a:srgbClr val="475569"/>
                </a:solidFill>
              </a:rPr>
              <a:t>94.2% precision mapping explicit delegations to team members.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Due Date Precision: </a:t>
            </a:r>
            <a:r>
              <a:rPr sz="1050">
                <a:solidFill>
                  <a:srgbClr val="475569"/>
                </a:solidFill>
              </a:rPr>
              <a:t>92.8% accuracy inferring relative terms into standardized ISO 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PROJECT EXECUTION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Team Work Breakdown &amp; Responsibility Matrix (Group 45)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42255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b="1" sz="1150">
                <a:solidFill>
                  <a:srgbClr val="0F172A"/>
                </a:solidFill>
              </a:rPr>
              <a:t>Tanishq Das (23BAI10587) — </a:t>
            </a:r>
            <a:r>
              <a:rPr b="1" sz="1100">
                <a:solidFill>
                  <a:srgbClr val="1D4ED8"/>
                </a:solidFill>
              </a:rPr>
              <a:t>Objectives &amp; System Architecture</a:t>
            </a:r>
          </a:p>
          <a:p>
            <a:r>
              <a:rPr sz="1000">
                <a:solidFill>
                  <a:srgbClr val="475569"/>
                </a:solidFill>
              </a:rPr>
              <a:t>Defined project objectives, architected the multi-tier system workflow, designed data pipeline flowcharts, and orchestrated audio-to-AI microservices.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b="1" sz="1150">
                <a:solidFill>
                  <a:srgbClr val="0F172A"/>
                </a:solidFill>
              </a:rPr>
              <a:t>Abhi Pandey (23BAI10909) — </a:t>
            </a:r>
            <a:r>
              <a:rPr b="1" sz="1100">
                <a:solidFill>
                  <a:srgbClr val="1D4ED8"/>
                </a:solidFill>
              </a:rPr>
              <a:t>Intro &amp; Problem Definition</a:t>
            </a:r>
          </a:p>
          <a:p>
            <a:r>
              <a:rPr sz="1000">
                <a:solidFill>
                  <a:srgbClr val="475569"/>
                </a:solidFill>
              </a:rPr>
              <a:t>Formulated the project motivation, documented traditional meeting friction, surveyed literature on meeting note-taking debt, and authored the problem statement.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242255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b="1" sz="1150">
                <a:solidFill>
                  <a:srgbClr val="0F172A"/>
                </a:solidFill>
              </a:rPr>
              <a:t>Varun Tiwari (23BAI10939) — </a:t>
            </a:r>
            <a:r>
              <a:rPr b="1" sz="1100">
                <a:solidFill>
                  <a:srgbClr val="1D4ED8"/>
                </a:solidFill>
              </a:rPr>
              <a:t>Frontend &amp; AI Processing</a:t>
            </a:r>
          </a:p>
          <a:p>
            <a:r>
              <a:rPr sz="1000">
                <a:solidFill>
                  <a:srgbClr val="475569"/>
                </a:solidFill>
              </a:rPr>
              <a:t>Engineered the Next.js 14 and Tailwind CSS frontend stack, integrated the Groq Whisper-large-v3 STT pipeline, and developed Google Gemini 1.5 Flash task extraction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017520"/>
            <a:ext cx="5242255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b="1" sz="1150">
                <a:solidFill>
                  <a:srgbClr val="0F172A"/>
                </a:solidFill>
              </a:rPr>
              <a:t>Nikhil Agrawal (23BAI11388) — </a:t>
            </a:r>
            <a:r>
              <a:rPr b="1" sz="1100">
                <a:solidFill>
                  <a:srgbClr val="1D4ED8"/>
                </a:solidFill>
              </a:rPr>
              <a:t>UI &amp; Linear Integration</a:t>
            </a:r>
          </a:p>
          <a:p>
            <a:r>
              <a:rPr sz="1000">
                <a:solidFill>
                  <a:srgbClr val="475569"/>
                </a:solidFill>
              </a:rPr>
              <a:t>Crafted the tactile UI user journey, built interactive transcript/task components, and implemented direct issue synchronization with Linear's GraphQL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5242255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b="1" sz="1150">
                <a:solidFill>
                  <a:srgbClr val="0F172A"/>
                </a:solidFill>
              </a:rPr>
              <a:t>Harsh Gupta (23BAI10916) — </a:t>
            </a:r>
            <a:r>
              <a:rPr b="1" sz="1100">
                <a:solidFill>
                  <a:srgbClr val="1D4ED8"/>
                </a:solidFill>
              </a:rPr>
              <a:t>PDF, Deployment &amp; Roadmap</a:t>
            </a:r>
          </a:p>
          <a:p>
            <a:r>
              <a:rPr sz="1000">
                <a:solidFill>
                  <a:srgbClr val="475569"/>
                </a:solidFill>
              </a:rPr>
              <a:t>Developed the jsPDF executive audit report generator, configured the Vercel CI/CD deployment pipeline, and defined the future scalability roadmap and limitations.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572000"/>
            <a:ext cx="5242255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b="1" sz="1150">
                <a:solidFill>
                  <a:srgbClr val="0F172A"/>
                </a:solidFill>
              </a:rPr>
              <a:t>Akshaansh Veer (23BAI10730) — </a:t>
            </a:r>
            <a:r>
              <a:rPr b="1" sz="1100">
                <a:solidFill>
                  <a:srgbClr val="1D4ED8"/>
                </a:solidFill>
              </a:rPr>
              <a:t>Live Demo &amp; Conclusion</a:t>
            </a:r>
          </a:p>
          <a:p>
            <a:r>
              <a:rPr sz="1000">
                <a:solidFill>
                  <a:srgbClr val="475569"/>
                </a:solidFill>
              </a:rPr>
              <a:t>Led end-to-end system validation, orchestrated real-time meeting demonstration scenarios, measured performance benchmarks, and authored the conclusion.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VIVA &amp; EVALUATION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Six-Step Live Demonstration Walkthrough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Step 1: Open Live Web App</a:t>
            </a:r>
          </a:p>
          <a:p>
            <a:r>
              <a:rPr sz="1100">
                <a:solidFill>
                  <a:srgbClr val="475569"/>
                </a:solidFill>
              </a:rPr>
              <a:t>Navigate to https://meethub-orpin.vercel.app/ and present the tactile landing page and verified zero-data retention badges.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Step 2: Dual Audio Capture</a:t>
            </a:r>
          </a:p>
          <a:p>
            <a:r>
              <a:rPr sz="1100">
                <a:solidFill>
                  <a:srgbClr val="475569"/>
                </a:solidFill>
              </a:rPr>
              <a:t>Open Browser Recorder modal, select 'Dual Audio', share meeting tab audio + microphone, and record 30s live conversation.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46304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Step 3: Whisper ASR</a:t>
            </a:r>
          </a:p>
          <a:p>
            <a:r>
              <a:rPr sz="1100">
                <a:solidFill>
                  <a:srgbClr val="475569"/>
                </a:solidFill>
              </a:rPr>
              <a:t>Demonstrate sub-second transcription (&lt;1.2s) as Groq LPU returns word-aligned transcript turns into the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Step 4: AI Task Extraction</a:t>
            </a:r>
          </a:p>
          <a:p>
            <a:r>
              <a:rPr sz="1100">
                <a:solidFill>
                  <a:srgbClr val="475569"/>
                </a:solidFill>
              </a:rPr>
              <a:t>Run Gemini 1.5 Flash extraction to showcase automatic detection of tasks, assignees, deadlines, and priorities.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4048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Step 5: 1-Click Linear Sync</a:t>
            </a:r>
          </a:p>
          <a:p>
            <a:r>
              <a:rPr sz="1100">
                <a:solidFill>
                  <a:srgbClr val="475569"/>
                </a:solidFill>
              </a:rPr>
              <a:t>Click 'Push to Linear' and verify instant issue creation (ENG-241) on the active Linear engineering 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840480"/>
            <a:ext cx="34134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Step 6: Executive PDF Brief</a:t>
            </a:r>
          </a:p>
          <a:p>
            <a:r>
              <a:rPr sz="1100">
                <a:solidFill>
                  <a:srgbClr val="475569"/>
                </a:solidFill>
              </a:rPr>
              <a:t>Generate and download the formal executive audit brief PDF, showing the complete attendee roster and decision 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ENGINEERING CONSTRAINTS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Current System Limitations &amp; Boundary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1. Chromium Browser Audio Dependency</a:t>
            </a:r>
          </a:p>
          <a:p>
            <a:r>
              <a:rPr sz="1100">
                <a:solidFill>
                  <a:srgbClr val="475569"/>
                </a:solidFill>
              </a:rPr>
              <a:t>Dual audio capture utilizes Chromium's getDisplayMedia with tab audio streaming. Non-Chromium browsers (Safari, iOS) restrict programmatic tab audio capture.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2. High-Cross-Talk Acoustic Degradation</a:t>
            </a:r>
          </a:p>
          <a:p>
            <a:r>
              <a:rPr sz="1100">
                <a:solidFill>
                  <a:srgbClr val="475569"/>
                </a:solidFill>
              </a:rPr>
              <a:t>When multiple remote participants speak over each other simultaneously on poor network connections, phonetic speech recognition experiences minor error spikes.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3. Single-Platform Linear Binding</a:t>
            </a:r>
          </a:p>
          <a:p>
            <a:r>
              <a:rPr sz="1100">
                <a:solidFill>
                  <a:srgbClr val="475569"/>
                </a:solidFill>
              </a:rPr>
              <a:t>While Linear GraphQL integration is complete, adapters for Jira Software, GitHub Issues, and Asana remain in prototype stages.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84048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4. Cloud API Latency Dependency</a:t>
            </a:r>
          </a:p>
          <a:p>
            <a:r>
              <a:rPr sz="1100">
                <a:solidFill>
                  <a:srgbClr val="475569"/>
                </a:solidFill>
              </a:rPr>
              <a:t>The architecture relies on Groq and Google Gemini cloud API endpoints; offline or air-gapped execution is not currently supported.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FUTURE ENHANCEMENTS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MeetHub Phase-II Technical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Multi-Platform Backlog Adapters</a:t>
            </a:r>
          </a:p>
          <a:p>
            <a:r>
              <a:rPr sz="1100">
                <a:solidFill>
                  <a:srgbClr val="475569"/>
                </a:solidFill>
              </a:rPr>
              <a:t>Expand dispatch engine to simultaneously sync across Linear, Jira Software, GitHub Issues, and Notion databases.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Offline Edge LLM Fallback</a:t>
            </a:r>
          </a:p>
          <a:p>
            <a:r>
              <a:rPr sz="1100">
                <a:solidFill>
                  <a:srgbClr val="475569"/>
                </a:solidFill>
              </a:rPr>
              <a:t>Compile Whisper via WebAssembly (Whisper.cpp) and bundle quantized local LLMs (Ollama/Phi-3) for air-gapped enterprise setups.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Desktop Copilot Overlay</a:t>
            </a:r>
          </a:p>
          <a:p>
            <a:r>
              <a:rPr sz="1100">
                <a:solidFill>
                  <a:srgbClr val="475569"/>
                </a:solidFill>
              </a:rPr>
              <a:t>Build an unobtrusive Electron desktop companion that detects commitments and highlights tasks in real time during video calls.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840480"/>
            <a:ext cx="5242255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Multilingual Translation</a:t>
            </a:r>
          </a:p>
          <a:p>
            <a:r>
              <a:rPr sz="1100">
                <a:solidFill>
                  <a:srgbClr val="475569"/>
                </a:solidFill>
              </a:rPr>
              <a:t>Support real-time cross-lingual task extraction for global distributed teams speaking Spanish, Hindi, German, and Japanese.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SUMMARY &amp; CONCLUSION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MeetHub: Bridging Conversation to Engineering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1D4ED8"/>
                </a:solidFill>
              </a:rPr>
              <a:t>CORE PROJECT DELIVERABLES &amp; OUTCOMES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✓ Administrative Friction Eradicated: </a:t>
            </a:r>
            <a:r>
              <a:rPr sz="1100">
                <a:solidFill>
                  <a:srgbClr val="475569"/>
                </a:solidFill>
              </a:rPr>
              <a:t>Reduced post-meeting task management overhead from 45 minutes to &lt;50 seconds.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✓ Zero-Bot Browser Audio Innovation: </a:t>
            </a:r>
            <a:r>
              <a:rPr sz="1100">
                <a:solidFill>
                  <a:srgbClr val="475569"/>
                </a:solidFill>
              </a:rPr>
              <a:t>Pioneered client-side Web Audio mixing of mic and browser tab voices, overcoming social and privacy barriers of recording bots.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✓ Sub-Second AI Intelligence: </a:t>
            </a:r>
            <a:r>
              <a:rPr sz="1100">
                <a:solidFill>
                  <a:srgbClr val="475569"/>
                </a:solidFill>
              </a:rPr>
              <a:t>Integrated Groq Whisper LPUs and Google Gemini 1.5 Flash to achieve 96.4% task detection precision.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✓ Direct Linear Ecosystem Synergy: </a:t>
            </a:r>
            <a:r>
              <a:rPr sz="1100">
                <a:solidFill>
                  <a:srgbClr val="475569"/>
                </a:solidFill>
              </a:rPr>
              <a:t>1-click injection of validated issues into active development backlogs with full team accountability.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✓ Production Deployment &amp; Open-Source Availability: </a:t>
            </a:r>
            <a:r>
              <a:rPr sz="1100">
                <a:solidFill>
                  <a:srgbClr val="475569"/>
                </a:solidFill>
              </a:rPr>
              <a:t>Fully deployed on Vercel at https://meethub-orpin.vercel.app/ and open-sourced at https://github.com/TANISHQDAS/Meethub.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✓ Capstone Phase-I Milestone Fulfilled: </a:t>
            </a:r>
            <a:r>
              <a:rPr sz="1100">
                <a:solidFill>
                  <a:srgbClr val="475569"/>
                </a:solidFill>
              </a:rPr>
              <a:t>All Capstone Phase-I objectives successfully validated under the guidance of Dr. Jyoti Chauhan and SCAI faculty.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F172A"/>
                </a:solidFill>
                <a:latin typeface="Calibri"/>
              </a:rPr>
              <a:t>THANK YOU!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1D4ED8"/>
                </a:solidFill>
                <a:latin typeface="Calibri"/>
              </a:rPr>
              <a:t>Questions &amp; Live Discussion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MeetHub — Meeting Collaboration &amp; AI Task Automation | Linear Integration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Live Demo: https://meethub-orpin.vercel.app/   •   GitHub: https://github.com/TANISHQDAS/Meethub</a:t>
            </a:r>
          </a:p>
          <a:p>
            <a:r>
              <a:rPr sz="1200">
                <a:solidFill>
                  <a:srgbClr val="475569"/>
                </a:solidFill>
                <a:latin typeface="Calibri"/>
              </a:rPr>
              <a:t>Group 45  |  School of Computing Science and Engineering (SCAI), VIT Bhopal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44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1">
                <a:solidFill>
                  <a:srgbClr val="1D4ED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